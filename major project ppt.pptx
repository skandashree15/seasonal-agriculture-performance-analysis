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419AE38-882F-1515-E21D-2DA2765CE3A3}" v="2" dt="2026-09-02T10:33:37.143"/>
    <p1510:client id="{BA573E70-4CE7-E3DA-403D-1D1B358A6CED}" v="45" dt="2026-09-02T10:11:53.372"/>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95" d="100"/>
          <a:sy n="95" d="100"/>
        </p:scale>
        <p:origin x="110"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9/5/2026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9/5/2026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9/5/2026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9/5/2026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9/5/2026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Skandashree15/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884505" y="2998251"/>
            <a:ext cx="4565048" cy="1430706"/>
          </a:xfrm>
        </p:spPr>
        <p:txBody>
          <a:bodyPr vert="horz" lIns="91440" tIns="45720" rIns="91440" bIns="45720" rtlCol="0" anchor="t">
            <a:noAutofit/>
          </a:bodyPr>
          <a:lstStyle/>
          <a:p>
            <a:pPr>
              <a:lnSpc>
                <a:spcPct val="150000"/>
              </a:lnSpc>
            </a:pPr>
            <a:r>
              <a:rPr lang="en-IN" dirty="0">
                <a:solidFill>
                  <a:schemeClr val="tx1"/>
                </a:solidFill>
                <a:latin typeface="Times New Roman" panose="02020603050405020304" pitchFamily="18" charset="0"/>
                <a:cs typeface="Times New Roman" panose="02020603050405020304" pitchFamily="18" charset="0"/>
              </a:rPr>
              <a:t>Presented by:</a:t>
            </a:r>
            <a:br>
              <a:rPr lang="en-IN" dirty="0">
                <a:solidFill>
                  <a:schemeClr val="tx1"/>
                </a:solidFill>
                <a:latin typeface="Times New Roman" panose="02020603050405020304" pitchFamily="18" charset="0"/>
                <a:cs typeface="Times New Roman" panose="02020603050405020304" pitchFamily="18" charset="0"/>
              </a:rPr>
            </a:br>
            <a:r>
              <a:rPr lang="en-IN" b="0" dirty="0">
                <a:solidFill>
                  <a:schemeClr val="tx1"/>
                </a:solidFill>
                <a:latin typeface="Times New Roman" panose="02020603050405020304" pitchFamily="18" charset="0"/>
                <a:cs typeface="Times New Roman" panose="02020603050405020304" pitchFamily="18" charset="0"/>
              </a:rPr>
              <a:t>Skandashree R</a:t>
            </a:r>
            <a:br>
              <a:rPr lang="en-IN" b="0" dirty="0">
                <a:solidFill>
                  <a:schemeClr val="tx1"/>
                </a:solidFill>
                <a:latin typeface="Times New Roman" panose="02020603050405020304" pitchFamily="18" charset="0"/>
                <a:cs typeface="Times New Roman" panose="02020603050405020304" pitchFamily="18" charset="0"/>
              </a:rPr>
            </a:br>
            <a:r>
              <a:rPr lang="en-IN" b="0" dirty="0">
                <a:solidFill>
                  <a:schemeClr val="tx1"/>
                </a:solidFill>
                <a:latin typeface="Times New Roman" panose="02020603050405020304" pitchFamily="18" charset="0"/>
                <a:cs typeface="Times New Roman" panose="02020603050405020304" pitchFamily="18" charset="0"/>
              </a:rPr>
              <a:t>Dr. Ambedkar Institute of Technology</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645751" y="845477"/>
            <a:ext cx="4998720" cy="1392398"/>
          </a:xfrm>
        </p:spPr>
        <p:txBody>
          <a:bodyPr>
            <a:noAutofit/>
          </a:bodyPr>
          <a:lstStyle/>
          <a:p>
            <a:r>
              <a:rPr lang="en-GB" sz="2400" b="1" dirty="0">
                <a:latin typeface="Times New Roman" panose="02020603050405020304" pitchFamily="18" charset="0"/>
                <a:cs typeface="Times New Roman" panose="02020603050405020304" pitchFamily="18" charset="0"/>
              </a:rPr>
              <a:t>Project Title –</a:t>
            </a:r>
            <a:br>
              <a:rPr lang="en-GB" sz="2400" dirty="0">
                <a:latin typeface="Times New Roman" panose="02020603050405020304" pitchFamily="18" charset="0"/>
                <a:cs typeface="Times New Roman" panose="02020603050405020304" pitchFamily="18" charset="0"/>
              </a:rPr>
            </a:br>
            <a:r>
              <a:rPr lang="en-IN" sz="2400" dirty="0">
                <a:latin typeface="Times New Roman" panose="02020603050405020304" pitchFamily="18" charset="0"/>
                <a:cs typeface="Times New Roman" panose="02020603050405020304" pitchFamily="18" charset="0"/>
              </a:rPr>
              <a:t>Seasonal Agriculture Performance Analysis</a:t>
            </a:r>
            <a:br>
              <a:rPr lang="en-IN" sz="2400" dirty="0">
                <a:latin typeface="Times New Roman" panose="02020603050405020304" pitchFamily="18" charset="0"/>
                <a:cs typeface="Times New Roman" panose="02020603050405020304" pitchFamily="18" charset="0"/>
              </a:rPr>
            </a:br>
            <a:endParaRPr lang="en-IN" sz="24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884505" y="4841163"/>
            <a:ext cx="4208865" cy="960328"/>
          </a:xfrm>
          <a:prstGeom prst="rect">
            <a:avLst/>
          </a:prstGeom>
          <a:noFill/>
        </p:spPr>
        <p:txBody>
          <a:bodyPr wrap="square" rtlCol="0">
            <a:spAutoFit/>
          </a:bodyPr>
          <a:lstStyle/>
          <a:p>
            <a:pPr>
              <a:lnSpc>
                <a:spcPct val="150000"/>
              </a:lnSpc>
            </a:pPr>
            <a:r>
              <a:rPr lang="en-US" sz="2000" b="1" dirty="0">
                <a:latin typeface="Times New Roman" panose="02020603050405020304" pitchFamily="18" charset="0"/>
                <a:cs typeface="Times New Roman" panose="02020603050405020304" pitchFamily="18" charset="0"/>
              </a:rPr>
              <a:t>AICTE STU ID : </a:t>
            </a:r>
            <a:r>
              <a:rPr lang="en-US" sz="2000" dirty="0">
                <a:latin typeface="Times New Roman" panose="02020603050405020304" pitchFamily="18" charset="0"/>
                <a:cs typeface="Times New Roman" panose="02020603050405020304" pitchFamily="18" charset="0"/>
              </a:rPr>
              <a:t>STU6a41341341e4d1782658067</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14" presetClass="entr" presetSubtype="10" fill="hold" grpId="0" nodeType="clickEffect">
                                  <p:stCondLst>
                                    <p:cond delay="0"/>
                                  </p:stCondLst>
                                  <p:childTnLst>
                                    <p:set>
                                      <p:cBhvr>
                                        <p:cTn id="24" dur="1" fill="hold">
                                          <p:stCondLst>
                                            <p:cond delay="0"/>
                                          </p:stCondLst>
                                        </p:cTn>
                                        <p:tgtEl>
                                          <p:spTgt spid="2">
                                            <p:txEl>
                                              <p:pRg st="0" end="0"/>
                                            </p:txEl>
                                          </p:spTgt>
                                        </p:tgtEl>
                                        <p:attrNameLst>
                                          <p:attrName>style.visibility</p:attrName>
                                        </p:attrNameLst>
                                      </p:cBhvr>
                                      <p:to>
                                        <p:strVal val="visible"/>
                                      </p:to>
                                    </p:set>
                                    <p:animEffect transition="in" filter="randombar(horizontal)">
                                      <p:cBhvr>
                                        <p:cTn id="25"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754602" y="1925053"/>
            <a:ext cx="7354682" cy="3689684"/>
          </a:xfrm>
        </p:spPr>
        <p:txBody>
          <a:bodyPr vert="horz" lIns="91440" tIns="45720" rIns="91440" bIns="45720" rtlCol="0" anchor="t">
            <a:noAutofit/>
          </a:bodyPr>
          <a:lstStyle/>
          <a:p>
            <a:pPr marL="0" indent="0" algn="just">
              <a:lnSpc>
                <a:spcPct val="100000"/>
              </a:lnSpc>
              <a:buNone/>
            </a:pPr>
            <a:r>
              <a:rPr lang="en-IN" dirty="0">
                <a:latin typeface="Times New Roman" panose="02020603050405020304" pitchFamily="18" charset="0"/>
                <a:cs typeface="Times New Roman" panose="02020603050405020304" pitchFamily="18" charset="0"/>
              </a:rPr>
              <a:t>Agricultural activities are influenced by seasonal variations in environmental conditions, farming practices, resource availability and market conditions. As a result, agricultural performance may differ from one season to another. However, raw agricultural data does not clearly explain how agricultural performance changes across seasons or what patterns can be observed in different seasonal conditions. The problem is to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the given agricultural dataset and investigate seasonal differences in agricultural performance by identifying meaningful patterns, trends, relationships and variations within the available data</a:t>
            </a: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672814"/>
            <a:ext cx="6995604" cy="790111"/>
          </a:xfrm>
        </p:spPr>
        <p:txBody>
          <a:bodyPr>
            <a:normAutofit/>
          </a:bodyPr>
          <a:lstStyle/>
          <a:p>
            <a:r>
              <a:rPr lang="en-US" sz="3600" dirty="0">
                <a:latin typeface="Times New Roman" panose="02020603050405020304" pitchFamily="18" charset="0"/>
                <a:cs typeface="Times New Roman" panose="02020603050405020304" pitchFamily="18" charset="0"/>
              </a:rPr>
              <a:t>PROBLEM  STATEMENT</a:t>
            </a:r>
            <a:endParaRPr lang="en-IN" sz="36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8188189" y="2890729"/>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75957" y="520296"/>
            <a:ext cx="6276109" cy="662640"/>
          </a:xfrm>
        </p:spPr>
        <p:txBody>
          <a:bodyPr>
            <a:normAutofit fontScale="90000"/>
          </a:bodyPr>
          <a:lstStyle/>
          <a:p>
            <a:r>
              <a:rPr lang="en-GB" sz="3600" dirty="0">
                <a:latin typeface="Times New Roman" panose="02020603050405020304" pitchFamily="18" charset="0"/>
                <a:cs typeface="Times New Roman" panose="02020603050405020304" pitchFamily="18" charset="0"/>
              </a:rPr>
              <a:t>Project Description</a:t>
            </a:r>
            <a:br>
              <a:rPr lang="en-GB" dirty="0"/>
            </a:br>
            <a:r>
              <a:rPr lang="en-GB" dirty="0"/>
              <a:t> </a:t>
            </a: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8" name="TextBox 7">
            <a:extLst>
              <a:ext uri="{FF2B5EF4-FFF2-40B4-BE49-F238E27FC236}">
                <a16:creationId xmlns:a16="http://schemas.microsoft.com/office/drawing/2014/main" id="{7B60E458-3298-6BDF-1237-4319EA10F7B2}"/>
              </a:ext>
            </a:extLst>
          </p:cNvPr>
          <p:cNvSpPr txBox="1"/>
          <p:nvPr/>
        </p:nvSpPr>
        <p:spPr>
          <a:xfrm>
            <a:off x="675957" y="1331495"/>
            <a:ext cx="8203348" cy="4801314"/>
          </a:xfrm>
          <a:prstGeom prst="rect">
            <a:avLst/>
          </a:prstGeom>
          <a:noFill/>
        </p:spPr>
        <p:txBody>
          <a:bodyPr wrap="square" rtlCol="0">
            <a:spAutoFit/>
          </a:bodyPr>
          <a:lstStyle/>
          <a:p>
            <a:pPr algn="just"/>
            <a:r>
              <a:rPr lang="en-IN" b="1" dirty="0">
                <a:latin typeface="Times New Roman" panose="02020603050405020304" pitchFamily="18" charset="0"/>
                <a:cs typeface="Times New Roman" panose="02020603050405020304" pitchFamily="18" charset="0"/>
              </a:rPr>
              <a:t>Seasonal Agriculture Performance Analysis</a:t>
            </a:r>
            <a:r>
              <a:rPr lang="en-IN" dirty="0">
                <a:latin typeface="Times New Roman" panose="02020603050405020304" pitchFamily="18" charset="0"/>
                <a:cs typeface="Times New Roman" panose="02020603050405020304" pitchFamily="18" charset="0"/>
              </a:rPr>
              <a:t> is a data analytics project that examines agricultural activities across different seasons, geographical areas, crops, and farming conditions.</a:t>
            </a:r>
          </a:p>
          <a:p>
            <a:pPr algn="just"/>
            <a:r>
              <a:rPr lang="en-IN" dirty="0">
                <a:latin typeface="Times New Roman" panose="02020603050405020304" pitchFamily="18" charset="0"/>
                <a:cs typeface="Times New Roman" panose="02020603050405020304" pitchFamily="18" charset="0"/>
              </a:rPr>
              <a:t>The project involves:</a:t>
            </a:r>
          </a:p>
          <a:p>
            <a:pPr lvl="0" algn="just"/>
            <a:r>
              <a:rPr lang="en-IN" b="1" dirty="0">
                <a:latin typeface="Times New Roman" panose="02020603050405020304" pitchFamily="18" charset="0"/>
                <a:cs typeface="Times New Roman" panose="02020603050405020304" pitchFamily="18" charset="0"/>
              </a:rPr>
              <a:t>Data exploration and cleaning</a:t>
            </a:r>
            <a:r>
              <a:rPr lang="en-IN" dirty="0">
                <a:latin typeface="Times New Roman" panose="02020603050405020304" pitchFamily="18" charset="0"/>
                <a:cs typeface="Times New Roman" panose="02020603050405020304" pitchFamily="18" charset="0"/>
              </a:rPr>
              <a:t> to prepare the agricultural dataset for analysis. </a:t>
            </a:r>
          </a:p>
          <a:p>
            <a:pPr lvl="0" algn="just"/>
            <a:r>
              <a:rPr lang="en-IN" b="1" dirty="0">
                <a:latin typeface="Times New Roman" panose="02020603050405020304" pitchFamily="18" charset="0"/>
                <a:cs typeface="Times New Roman" panose="02020603050405020304" pitchFamily="18" charset="0"/>
              </a:rPr>
              <a:t>Statistical analysis</a:t>
            </a:r>
            <a:r>
              <a:rPr lang="en-IN" dirty="0">
                <a:latin typeface="Times New Roman" panose="02020603050405020304" pitchFamily="18" charset="0"/>
                <a:cs typeface="Times New Roman" panose="02020603050405020304" pitchFamily="18" charset="0"/>
              </a:rPr>
              <a:t> to understand distributions, variations, and overall performance. </a:t>
            </a:r>
          </a:p>
          <a:p>
            <a:pPr lvl="0" algn="just"/>
            <a:r>
              <a:rPr lang="en-IN" b="1" dirty="0">
                <a:latin typeface="Times New Roman" panose="02020603050405020304" pitchFamily="18" charset="0"/>
                <a:cs typeface="Times New Roman" panose="02020603050405020304" pitchFamily="18" charset="0"/>
              </a:rPr>
              <a:t>Seasonal comparison</a:t>
            </a:r>
            <a:r>
              <a:rPr lang="en-IN" dirty="0">
                <a:latin typeface="Times New Roman" panose="02020603050405020304" pitchFamily="18" charset="0"/>
                <a:cs typeface="Times New Roman" panose="02020603050405020304" pitchFamily="18" charset="0"/>
              </a:rPr>
              <a:t> to identify differences in yield, production, resource usage, and profitability. </a:t>
            </a:r>
          </a:p>
          <a:p>
            <a:pPr lvl="0" algn="just"/>
            <a:r>
              <a:rPr lang="en-IN" b="1" dirty="0">
                <a:latin typeface="Times New Roman" panose="02020603050405020304" pitchFamily="18" charset="0"/>
                <a:cs typeface="Times New Roman" panose="02020603050405020304" pitchFamily="18" charset="0"/>
              </a:rPr>
              <a:t>Relationship analysis</a:t>
            </a:r>
            <a:r>
              <a:rPr lang="en-IN" dirty="0">
                <a:latin typeface="Times New Roman" panose="02020603050405020304" pitchFamily="18" charset="0"/>
                <a:cs typeface="Times New Roman" panose="02020603050405020304" pitchFamily="18" charset="0"/>
              </a:rPr>
              <a:t> to study connections between environmental conditions, farming practices, and agricultural outcomes. </a:t>
            </a:r>
          </a:p>
          <a:p>
            <a:pPr lvl="0" algn="just"/>
            <a:r>
              <a:rPr lang="en-IN" b="1" dirty="0">
                <a:latin typeface="Times New Roman" panose="02020603050405020304" pitchFamily="18" charset="0"/>
                <a:cs typeface="Times New Roman" panose="02020603050405020304" pitchFamily="18" charset="0"/>
              </a:rPr>
              <a:t>Data visualization</a:t>
            </a:r>
            <a:r>
              <a:rPr lang="en-IN" dirty="0">
                <a:latin typeface="Times New Roman" panose="02020603050405020304" pitchFamily="18" charset="0"/>
                <a:cs typeface="Times New Roman" panose="02020603050405020304" pitchFamily="18" charset="0"/>
              </a:rPr>
              <a:t> using charts and graphs to clearly communicate important patterns. </a:t>
            </a:r>
          </a:p>
          <a:p>
            <a:pPr lvl="0" algn="just"/>
            <a:r>
              <a:rPr lang="en-IN" b="1" dirty="0">
                <a:latin typeface="Times New Roman" panose="02020603050405020304" pitchFamily="18" charset="0"/>
                <a:cs typeface="Times New Roman" panose="02020603050405020304" pitchFamily="18" charset="0"/>
              </a:rPr>
              <a:t>Insight generation</a:t>
            </a:r>
            <a:r>
              <a:rPr lang="en-IN" dirty="0">
                <a:latin typeface="Times New Roman" panose="02020603050405020304" pitchFamily="18" charset="0"/>
                <a:cs typeface="Times New Roman" panose="02020603050405020304" pitchFamily="18" charset="0"/>
              </a:rPr>
              <a:t> to support evidence-based agricultural planning and decision-making. </a:t>
            </a:r>
          </a:p>
          <a:p>
            <a:pPr lvl="0" algn="just"/>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Project Workflow:</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Data Collection → Data Cleaning → Exploratory Analysis → Statistical Analysis → Visualization → Insights → Recommendations</a:t>
            </a:r>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540042"/>
            <a:ext cx="8703378" cy="4441341"/>
          </a:xfrm>
        </p:spPr>
        <p:txBody>
          <a:bodyPr>
            <a:normAutofit fontScale="70000" lnSpcReduction="20000"/>
          </a:bodyPr>
          <a:lstStyle/>
          <a:p>
            <a:pPr marL="0" indent="0">
              <a:lnSpc>
                <a:spcPct val="120000"/>
              </a:lnSpc>
              <a:buNone/>
            </a:pPr>
            <a:r>
              <a:rPr lang="en-IN" sz="2900" dirty="0">
                <a:latin typeface="Times New Roman" panose="02020603050405020304" pitchFamily="18" charset="0"/>
                <a:cs typeface="Times New Roman" panose="02020603050405020304" pitchFamily="18" charset="0"/>
              </a:rPr>
              <a:t>The insights generated from this analysis can be useful for:</a:t>
            </a:r>
          </a:p>
          <a:p>
            <a:pPr>
              <a:lnSpc>
                <a:spcPct val="120000"/>
              </a:lnSpc>
              <a:buFont typeface="Wingdings" panose="05000000000000000000" pitchFamily="2" charset="2"/>
              <a:buChar char="Ø"/>
            </a:pPr>
            <a:r>
              <a:rPr lang="en-IN" sz="2900"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Farmers</a:t>
            </a:r>
            <a:br>
              <a:rPr lang="en-IN" sz="2900" dirty="0">
                <a:latin typeface="Times New Roman" panose="02020603050405020304" pitchFamily="18" charset="0"/>
                <a:cs typeface="Times New Roman" panose="02020603050405020304" pitchFamily="18" charset="0"/>
              </a:rPr>
            </a:br>
            <a:r>
              <a:rPr lang="en-IN" sz="2900" dirty="0">
                <a:latin typeface="Times New Roman" panose="02020603050405020304" pitchFamily="18" charset="0"/>
                <a:cs typeface="Times New Roman" panose="02020603050405020304" pitchFamily="18" charset="0"/>
              </a:rPr>
              <a:t>To understand seasonal and crop-wise performance and improve planning.</a:t>
            </a:r>
          </a:p>
          <a:p>
            <a:pPr>
              <a:lnSpc>
                <a:spcPct val="120000"/>
              </a:lnSpc>
              <a:buFont typeface="Wingdings" panose="05000000000000000000" pitchFamily="2" charset="2"/>
              <a:buChar char="Ø"/>
            </a:pPr>
            <a:r>
              <a:rPr lang="en-IN" sz="2900"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Agricultural Departments</a:t>
            </a:r>
            <a:br>
              <a:rPr lang="en-IN" sz="2900" dirty="0">
                <a:latin typeface="Times New Roman" panose="02020603050405020304" pitchFamily="18" charset="0"/>
                <a:cs typeface="Times New Roman" panose="02020603050405020304" pitchFamily="18" charset="0"/>
              </a:rPr>
            </a:br>
            <a:r>
              <a:rPr lang="en-IN" sz="2900" dirty="0">
                <a:latin typeface="Times New Roman" panose="02020603050405020304" pitchFamily="18" charset="0"/>
                <a:cs typeface="Times New Roman" panose="02020603050405020304" pitchFamily="18" charset="0"/>
              </a:rPr>
              <a:t>To support data-driven agricultural policies and planning.</a:t>
            </a:r>
          </a:p>
          <a:p>
            <a:pPr>
              <a:lnSpc>
                <a:spcPct val="120000"/>
              </a:lnSpc>
              <a:buFont typeface="Wingdings" panose="05000000000000000000" pitchFamily="2" charset="2"/>
              <a:buChar char="Ø"/>
            </a:pPr>
            <a:r>
              <a:rPr lang="en-IN" sz="2900"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Agricultural Planners</a:t>
            </a:r>
            <a:br>
              <a:rPr lang="en-IN" sz="2900" dirty="0">
                <a:latin typeface="Times New Roman" panose="02020603050405020304" pitchFamily="18" charset="0"/>
                <a:cs typeface="Times New Roman" panose="02020603050405020304" pitchFamily="18" charset="0"/>
              </a:rPr>
            </a:br>
            <a:r>
              <a:rPr lang="en-IN" sz="2900" dirty="0">
                <a:latin typeface="Times New Roman" panose="02020603050405020304" pitchFamily="18" charset="0"/>
                <a:cs typeface="Times New Roman" panose="02020603050405020304" pitchFamily="18" charset="0"/>
              </a:rPr>
              <a:t>To compare seasonal performance and resource requirements.</a:t>
            </a:r>
          </a:p>
          <a:p>
            <a:pPr>
              <a:lnSpc>
                <a:spcPct val="120000"/>
              </a:lnSpc>
              <a:buFont typeface="Wingdings" panose="05000000000000000000" pitchFamily="2" charset="2"/>
              <a:buChar char="Ø"/>
            </a:pPr>
            <a:r>
              <a:rPr lang="en-IN" sz="2900"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Resource Managers</a:t>
            </a:r>
            <a:br>
              <a:rPr lang="en-IN" sz="2900" dirty="0">
                <a:latin typeface="Times New Roman" panose="02020603050405020304" pitchFamily="18" charset="0"/>
                <a:cs typeface="Times New Roman" panose="02020603050405020304" pitchFamily="18" charset="0"/>
              </a:rPr>
            </a:br>
            <a:r>
              <a:rPr lang="en-IN" sz="2900" dirty="0">
                <a:latin typeface="Times New Roman" panose="02020603050405020304" pitchFamily="18" charset="0"/>
                <a:cs typeface="Times New Roman" panose="02020603050405020304" pitchFamily="18" charset="0"/>
              </a:rPr>
              <a:t>To understand water usage and efficiency.</a:t>
            </a:r>
          </a:p>
          <a:p>
            <a:pPr>
              <a:lnSpc>
                <a:spcPct val="120000"/>
              </a:lnSpc>
              <a:buFont typeface="Wingdings" panose="05000000000000000000" pitchFamily="2" charset="2"/>
              <a:buChar char="Ø"/>
            </a:pPr>
            <a:r>
              <a:rPr lang="en-IN" sz="2900" dirty="0">
                <a:latin typeface="Times New Roman" panose="02020603050405020304" pitchFamily="18" charset="0"/>
                <a:cs typeface="Times New Roman" panose="02020603050405020304" pitchFamily="18" charset="0"/>
              </a:rPr>
              <a:t> </a:t>
            </a:r>
            <a:r>
              <a:rPr lang="en-IN" sz="2900" b="1" dirty="0">
                <a:latin typeface="Times New Roman" panose="02020603050405020304" pitchFamily="18" charset="0"/>
                <a:cs typeface="Times New Roman" panose="02020603050405020304" pitchFamily="18" charset="0"/>
              </a:rPr>
              <a:t>Agricultural Analysts &amp; Researchers</a:t>
            </a:r>
            <a:br>
              <a:rPr lang="en-IN" sz="2900" dirty="0">
                <a:latin typeface="Times New Roman" panose="02020603050405020304" pitchFamily="18" charset="0"/>
                <a:cs typeface="Times New Roman" panose="02020603050405020304" pitchFamily="18" charset="0"/>
              </a:rPr>
            </a:br>
            <a:r>
              <a:rPr lang="en-IN" sz="2900" dirty="0">
                <a:latin typeface="Times New Roman" panose="02020603050405020304" pitchFamily="18" charset="0"/>
                <a:cs typeface="Times New Roman" panose="02020603050405020304" pitchFamily="18" charset="0"/>
              </a:rPr>
              <a:t>To identify trends, relationships, and areas for further research</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745958"/>
            <a:ext cx="10046070" cy="673768"/>
          </a:xfrm>
        </p:spPr>
        <p:txBody>
          <a:bodyPr>
            <a:normAutofit/>
          </a:bodyPr>
          <a:lstStyle/>
          <a:p>
            <a:r>
              <a:rPr lang="en-US" sz="2800" dirty="0">
                <a:latin typeface="Times New Roman" panose="02020603050405020304" pitchFamily="18" charset="0"/>
                <a:cs typeface="Times New Roman" panose="02020603050405020304" pitchFamily="18" charset="0"/>
              </a:rPr>
              <a:t>WHO ARE THE END USERS?</a:t>
            </a:r>
            <a:endParaRPr lang="en-IN" sz="1800"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852862" y="986196"/>
            <a:ext cx="8952839" cy="5243448"/>
          </a:xfrm>
        </p:spPr>
        <p:txBody>
          <a:bodyPr>
            <a:normAutofit fontScale="77500" lnSpcReduction="20000"/>
          </a:bodyPr>
          <a:lstStyle/>
          <a:p>
            <a:pPr marL="0" indent="0">
              <a:buNone/>
            </a:pPr>
            <a:r>
              <a:rPr lang="en-IN" sz="2800" b="1" dirty="0">
                <a:latin typeface="Times New Roman" panose="02020603050405020304" pitchFamily="18" charset="0"/>
                <a:cs typeface="Times New Roman" panose="02020603050405020304" pitchFamily="18" charset="0"/>
              </a:rPr>
              <a:t>Programming &amp; Analysis</a:t>
            </a:r>
            <a:endParaRPr lang="en-IN" sz="2800" dirty="0">
              <a:latin typeface="Times New Roman" panose="02020603050405020304" pitchFamily="18" charset="0"/>
              <a:cs typeface="Times New Roman" panose="02020603050405020304" pitchFamily="18" charset="0"/>
            </a:endParaRPr>
          </a:p>
          <a:p>
            <a:pPr lvl="0"/>
            <a:r>
              <a:rPr lang="en-IN" sz="2800" dirty="0">
                <a:latin typeface="Times New Roman" panose="02020603050405020304" pitchFamily="18" charset="0"/>
                <a:cs typeface="Times New Roman" panose="02020603050405020304" pitchFamily="18" charset="0"/>
              </a:rPr>
              <a:t>Python </a:t>
            </a:r>
          </a:p>
          <a:p>
            <a:pPr lvl="0"/>
            <a:r>
              <a:rPr lang="en-IN" sz="2800" dirty="0">
                <a:latin typeface="Times New Roman" panose="02020603050405020304" pitchFamily="18" charset="0"/>
                <a:cs typeface="Times New Roman" panose="02020603050405020304" pitchFamily="18" charset="0"/>
              </a:rPr>
              <a:t>Pandas </a:t>
            </a:r>
          </a:p>
          <a:p>
            <a:pPr lvl="0"/>
            <a:r>
              <a:rPr lang="en-IN" sz="2800" dirty="0">
                <a:latin typeface="Times New Roman" panose="02020603050405020304" pitchFamily="18" charset="0"/>
                <a:cs typeface="Times New Roman" panose="02020603050405020304" pitchFamily="18" charset="0"/>
              </a:rPr>
              <a:t>NumPy </a:t>
            </a:r>
          </a:p>
          <a:p>
            <a:pPr marL="0" indent="0">
              <a:buNone/>
            </a:pPr>
            <a:r>
              <a:rPr lang="en-IN" sz="2800" b="1" dirty="0">
                <a:latin typeface="Times New Roman" panose="02020603050405020304" pitchFamily="18" charset="0"/>
                <a:cs typeface="Times New Roman" panose="02020603050405020304" pitchFamily="18" charset="0"/>
              </a:rPr>
              <a:t>Data Visualization</a:t>
            </a:r>
            <a:endParaRPr lang="en-IN" sz="2800" dirty="0">
              <a:latin typeface="Times New Roman" panose="02020603050405020304" pitchFamily="18" charset="0"/>
              <a:cs typeface="Times New Roman" panose="02020603050405020304" pitchFamily="18" charset="0"/>
            </a:endParaRPr>
          </a:p>
          <a:p>
            <a:pPr lvl="0"/>
            <a:r>
              <a:rPr lang="en-IN" sz="2800" dirty="0">
                <a:latin typeface="Times New Roman" panose="02020603050405020304" pitchFamily="18" charset="0"/>
                <a:cs typeface="Times New Roman" panose="02020603050405020304" pitchFamily="18" charset="0"/>
              </a:rPr>
              <a:t>Matplotlib </a:t>
            </a:r>
          </a:p>
          <a:p>
            <a:pPr lvl="0"/>
            <a:r>
              <a:rPr lang="en-IN" sz="2800" dirty="0">
                <a:latin typeface="Times New Roman" panose="02020603050405020304" pitchFamily="18" charset="0"/>
                <a:cs typeface="Times New Roman" panose="02020603050405020304" pitchFamily="18" charset="0"/>
              </a:rPr>
              <a:t>Seaborn </a:t>
            </a:r>
          </a:p>
          <a:p>
            <a:pPr marL="0" indent="0">
              <a:buNone/>
            </a:pPr>
            <a:r>
              <a:rPr lang="en-IN" sz="2800" b="1" dirty="0">
                <a:latin typeface="Times New Roman" panose="02020603050405020304" pitchFamily="18" charset="0"/>
                <a:cs typeface="Times New Roman" panose="02020603050405020304" pitchFamily="18" charset="0"/>
              </a:rPr>
              <a:t>Development Environment</a:t>
            </a:r>
            <a:endParaRPr lang="en-IN" sz="2800" dirty="0">
              <a:latin typeface="Times New Roman" panose="02020603050405020304" pitchFamily="18" charset="0"/>
              <a:cs typeface="Times New Roman" panose="02020603050405020304" pitchFamily="18" charset="0"/>
            </a:endParaRPr>
          </a:p>
          <a:p>
            <a:pPr lvl="0"/>
            <a:r>
              <a:rPr lang="en-IN" sz="2800" dirty="0">
                <a:latin typeface="Times New Roman" panose="02020603050405020304" pitchFamily="18" charset="0"/>
                <a:cs typeface="Times New Roman" panose="02020603050405020304" pitchFamily="18" charset="0"/>
              </a:rPr>
              <a:t>Google </a:t>
            </a:r>
            <a:r>
              <a:rPr lang="en-IN" sz="2800" dirty="0" err="1">
                <a:latin typeface="Times New Roman" panose="02020603050405020304" pitchFamily="18" charset="0"/>
                <a:cs typeface="Times New Roman" panose="02020603050405020304" pitchFamily="18" charset="0"/>
              </a:rPr>
              <a:t>Colab</a:t>
            </a:r>
            <a:r>
              <a:rPr lang="en-IN" sz="2800" dirty="0">
                <a:latin typeface="Times New Roman" panose="02020603050405020304" pitchFamily="18" charset="0"/>
                <a:cs typeface="Times New Roman" panose="02020603050405020304" pitchFamily="18" charset="0"/>
              </a:rPr>
              <a:t> </a:t>
            </a:r>
          </a:p>
          <a:p>
            <a:pPr marL="457200" lvl="1" indent="0">
              <a:lnSpc>
                <a:spcPct val="150000"/>
              </a:lnSpc>
              <a:buNone/>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1778000" y="267708"/>
            <a:ext cx="8344568" cy="847817"/>
          </a:xfrm>
        </p:spPr>
        <p:txBody>
          <a:bodyPr>
            <a:normAutofit/>
          </a:bodyPr>
          <a:lstStyle/>
          <a:p>
            <a:r>
              <a:rPr lang="en-US" sz="3200" dirty="0">
                <a:latin typeface="Times New Roman" panose="02020603050405020304" pitchFamily="18" charset="0"/>
                <a:cs typeface="Times New Roman" panose="02020603050405020304" pitchFamily="18" charset="0"/>
              </a:rPr>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7">
                                            <p:txEl>
                                              <p:pRg st="6" end="6"/>
                                            </p:txEl>
                                          </p:spTgt>
                                        </p:tgtEl>
                                        <p:attrNameLst>
                                          <p:attrName>style.visibility</p:attrName>
                                        </p:attrNameLst>
                                      </p:cBhvr>
                                      <p:to>
                                        <p:strVal val="visible"/>
                                      </p:to>
                                    </p:set>
                                    <p:animEffect transition="in" filter="fade">
                                      <p:cBhvr>
                                        <p:cTn id="56" dur="1000"/>
                                        <p:tgtEl>
                                          <p:spTgt spid="7">
                                            <p:txEl>
                                              <p:pRg st="6" end="6"/>
                                            </p:txEl>
                                          </p:spTgt>
                                        </p:tgtEl>
                                      </p:cBhvr>
                                    </p:animEffect>
                                    <p:anim calcmode="lin" valueType="num">
                                      <p:cBhvr>
                                        <p:cTn id="57"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7">
                                            <p:txEl>
                                              <p:pRg st="7" end="7"/>
                                            </p:txEl>
                                          </p:spTgt>
                                        </p:tgtEl>
                                        <p:attrNameLst>
                                          <p:attrName>style.visibility</p:attrName>
                                        </p:attrNameLst>
                                      </p:cBhvr>
                                      <p:to>
                                        <p:strVal val="visible"/>
                                      </p:to>
                                    </p:set>
                                    <p:animEffect transition="in" filter="fade">
                                      <p:cBhvr>
                                        <p:cTn id="63" dur="1000"/>
                                        <p:tgtEl>
                                          <p:spTgt spid="7">
                                            <p:txEl>
                                              <p:pRg st="7" end="7"/>
                                            </p:txEl>
                                          </p:spTgt>
                                        </p:tgtEl>
                                      </p:cBhvr>
                                    </p:animEffect>
                                    <p:anim calcmode="lin" valueType="num">
                                      <p:cBhvr>
                                        <p:cTn id="64" dur="1000" fill="hold"/>
                                        <p:tgtEl>
                                          <p:spTgt spid="7">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7">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7">
                                            <p:txEl>
                                              <p:pRg st="8" end="8"/>
                                            </p:txEl>
                                          </p:spTgt>
                                        </p:tgtEl>
                                        <p:attrNameLst>
                                          <p:attrName>style.visibility</p:attrName>
                                        </p:attrNameLst>
                                      </p:cBhvr>
                                      <p:to>
                                        <p:strVal val="visible"/>
                                      </p:to>
                                    </p:set>
                                    <p:animEffect transition="in" filter="fade">
                                      <p:cBhvr>
                                        <p:cTn id="70" dur="1000"/>
                                        <p:tgtEl>
                                          <p:spTgt spid="7">
                                            <p:txEl>
                                              <p:pRg st="8" end="8"/>
                                            </p:txEl>
                                          </p:spTgt>
                                        </p:tgtEl>
                                      </p:cBhvr>
                                    </p:animEffect>
                                    <p:anim calcmode="lin" valueType="num">
                                      <p:cBhvr>
                                        <p:cTn id="71"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72"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886332" y="302088"/>
            <a:ext cx="7030230" cy="551321"/>
          </a:xfrm>
        </p:spPr>
        <p:txBody>
          <a:bodyPr>
            <a:normAutofit fontScale="90000"/>
          </a:bodyPr>
          <a:lstStyle/>
          <a:p>
            <a:r>
              <a:rPr lang="en-GB" sz="3200" dirty="0">
                <a:latin typeface="Times New Roman" panose="02020603050405020304" pitchFamily="18" charset="0"/>
                <a:cs typeface="Times New Roman" panose="02020603050405020304" pitchFamily="18" charset="0"/>
              </a:rPr>
              <a:t>RESULTS : Seasonal Performance</a:t>
            </a:r>
            <a:endParaRPr lang="en-IN" sz="32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F11D6513-254A-065F-EE29-887FEDD7A0EF}"/>
              </a:ext>
            </a:extLst>
          </p:cNvPr>
          <p:cNvPicPr>
            <a:picLocks noChangeAspect="1"/>
          </p:cNvPicPr>
          <p:nvPr/>
        </p:nvPicPr>
        <p:blipFill>
          <a:blip r:embed="rId3"/>
          <a:stretch>
            <a:fillRect/>
          </a:stretch>
        </p:blipFill>
        <p:spPr>
          <a:xfrm>
            <a:off x="886332" y="972064"/>
            <a:ext cx="6372721" cy="3259865"/>
          </a:xfrm>
          <a:prstGeom prst="rect">
            <a:avLst/>
          </a:prstGeom>
        </p:spPr>
      </p:pic>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886332" y="4324945"/>
            <a:ext cx="7524954" cy="1875330"/>
          </a:xfrm>
        </p:spPr>
        <p:txBody>
          <a:bodyPr vert="horz" lIns="91440" tIns="45720" rIns="91440" bIns="45720" rtlCol="0" anchor="t">
            <a:normAutofit fontScale="85000" lnSpcReduction="10000"/>
          </a:bodyPr>
          <a:lstStyle/>
          <a:p>
            <a:pPr marL="0" indent="0">
              <a:buNone/>
            </a:pPr>
            <a:r>
              <a:rPr lang="en-IN" b="1" dirty="0">
                <a:latin typeface="Times New Roman" panose="02020603050405020304" pitchFamily="18" charset="0"/>
                <a:cs typeface="Times New Roman" panose="02020603050405020304" pitchFamily="18" charset="0"/>
              </a:rPr>
              <a:t>Key Findings</a:t>
            </a:r>
          </a:p>
          <a:p>
            <a:pPr lvl="0"/>
            <a:r>
              <a:rPr lang="en-IN" dirty="0">
                <a:latin typeface="Times New Roman" panose="02020603050405020304" pitchFamily="18" charset="0"/>
                <a:cs typeface="Times New Roman" panose="02020603050405020304" pitchFamily="18" charset="0"/>
              </a:rPr>
              <a:t>Seasonal variations were observed in agricultural performance. </a:t>
            </a:r>
          </a:p>
          <a:p>
            <a:pPr lvl="0"/>
            <a:r>
              <a:rPr lang="en-IN" b="1" dirty="0">
                <a:latin typeface="Times New Roman" panose="02020603050405020304" pitchFamily="18" charset="0"/>
                <a:cs typeface="Times New Roman" panose="02020603050405020304" pitchFamily="18" charset="0"/>
              </a:rPr>
              <a:t>Kharif showed the highest average yield</a:t>
            </a:r>
            <a:r>
              <a:rPr lang="en-IN" dirty="0">
                <a:latin typeface="Times New Roman" panose="02020603050405020304" pitchFamily="18" charset="0"/>
                <a:cs typeface="Times New Roman" panose="02020603050405020304" pitchFamily="18" charset="0"/>
              </a:rPr>
              <a:t> among 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seasons. </a:t>
            </a:r>
          </a:p>
          <a:p>
            <a:pPr lvl="0"/>
            <a:r>
              <a:rPr lang="en-IN" dirty="0">
                <a:latin typeface="Times New Roman" panose="02020603050405020304" pitchFamily="18" charset="0"/>
                <a:cs typeface="Times New Roman" panose="02020603050405020304" pitchFamily="18" charset="0"/>
              </a:rPr>
              <a:t>Kharif also showed strong performance in </a:t>
            </a:r>
            <a:r>
              <a:rPr lang="en-IN" b="1" dirty="0">
                <a:latin typeface="Times New Roman" panose="02020603050405020304" pitchFamily="18" charset="0"/>
                <a:cs typeface="Times New Roman" panose="02020603050405020304" pitchFamily="18" charset="0"/>
              </a:rPr>
              <a:t>average profit and total production</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Seasonal comparison helps identify periods with better agricultural outcomes.</a:t>
            </a:r>
          </a:p>
          <a:p>
            <a:pPr marL="0" indent="0">
              <a:buNone/>
            </a:pP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587725" y="158565"/>
            <a:ext cx="6216729" cy="830997"/>
          </a:xfrm>
        </p:spPr>
        <p:txBody>
          <a:bodyPr>
            <a:normAutofit/>
          </a:bodyPr>
          <a:lstStyle/>
          <a:p>
            <a:r>
              <a:rPr lang="en-GB" sz="2800" dirty="0">
                <a:latin typeface="Times New Roman" panose="02020603050405020304" pitchFamily="18" charset="0"/>
                <a:cs typeface="Times New Roman" panose="02020603050405020304" pitchFamily="18" charset="0"/>
              </a:rPr>
              <a:t>RESULTS : Crop Performance</a:t>
            </a:r>
            <a:r>
              <a:rPr lang="en-GB" dirty="0"/>
              <a:t> </a:t>
            </a:r>
            <a:endParaRPr lang="en-IN"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3A64DB11-806F-1A4C-E0D5-D745D29CED50}"/>
              </a:ext>
            </a:extLst>
          </p:cNvPr>
          <p:cNvSpPr>
            <a:spLocks noGrp="1"/>
          </p:cNvSpPr>
          <p:nvPr>
            <p:ph type="body" sz="quarter" idx="12"/>
          </p:nvPr>
        </p:nvSpPr>
        <p:spPr>
          <a:xfrm>
            <a:off x="587724" y="4311850"/>
            <a:ext cx="8375043" cy="2353110"/>
          </a:xfrm>
        </p:spPr>
        <p:txBody>
          <a:bodyPr>
            <a:normAutofit/>
          </a:bodyPr>
          <a:lstStyle/>
          <a:p>
            <a:pPr marL="0" indent="0">
              <a:buNone/>
            </a:pPr>
            <a:r>
              <a:rPr lang="en-IN" sz="1700" b="1" dirty="0">
                <a:latin typeface="Times New Roman" panose="02020603050405020304" pitchFamily="18" charset="0"/>
                <a:cs typeface="Times New Roman" panose="02020603050405020304" pitchFamily="18" charset="0"/>
              </a:rPr>
              <a:t>Key Findings</a:t>
            </a:r>
          </a:p>
          <a:p>
            <a:pPr lvl="0"/>
            <a:r>
              <a:rPr lang="en-IN" sz="1700" dirty="0">
                <a:latin typeface="Times New Roman" panose="02020603050405020304" pitchFamily="18" charset="0"/>
                <a:cs typeface="Times New Roman" panose="02020603050405020304" pitchFamily="18" charset="0"/>
              </a:rPr>
              <a:t>Crop performance varies considerably across the dataset. </a:t>
            </a:r>
          </a:p>
          <a:p>
            <a:pPr lvl="0"/>
            <a:r>
              <a:rPr lang="en-IN" sz="1700" b="1" dirty="0">
                <a:latin typeface="Times New Roman" panose="02020603050405020304" pitchFamily="18" charset="0"/>
                <a:cs typeface="Times New Roman" panose="02020603050405020304" pitchFamily="18" charset="0"/>
              </a:rPr>
              <a:t>Sugarcane showed the highest average yield</a:t>
            </a:r>
            <a:r>
              <a:rPr lang="en-IN" sz="1700" dirty="0">
                <a:latin typeface="Times New Roman" panose="02020603050405020304" pitchFamily="18" charset="0"/>
                <a:cs typeface="Times New Roman" panose="02020603050405020304" pitchFamily="18" charset="0"/>
              </a:rPr>
              <a:t> among the </a:t>
            </a:r>
            <a:r>
              <a:rPr lang="en-IN" sz="1700" dirty="0" err="1">
                <a:latin typeface="Times New Roman" panose="02020603050405020304" pitchFamily="18" charset="0"/>
                <a:cs typeface="Times New Roman" panose="02020603050405020304" pitchFamily="18" charset="0"/>
              </a:rPr>
              <a:t>analyzed</a:t>
            </a:r>
            <a:r>
              <a:rPr lang="en-IN" sz="1700" dirty="0">
                <a:latin typeface="Times New Roman" panose="02020603050405020304" pitchFamily="18" charset="0"/>
                <a:cs typeface="Times New Roman" panose="02020603050405020304" pitchFamily="18" charset="0"/>
              </a:rPr>
              <a:t> crops. </a:t>
            </a:r>
          </a:p>
          <a:p>
            <a:pPr lvl="0"/>
            <a:r>
              <a:rPr lang="en-IN" sz="1700" dirty="0">
                <a:latin typeface="Times New Roman" panose="02020603050405020304" pitchFamily="18" charset="0"/>
                <a:cs typeface="Times New Roman" panose="02020603050405020304" pitchFamily="18" charset="0"/>
              </a:rPr>
              <a:t>Sugarcane also showed strong </a:t>
            </a:r>
            <a:r>
              <a:rPr lang="en-IN" sz="1700" b="1" dirty="0">
                <a:latin typeface="Times New Roman" panose="02020603050405020304" pitchFamily="18" charset="0"/>
                <a:cs typeface="Times New Roman" panose="02020603050405020304" pitchFamily="18" charset="0"/>
              </a:rPr>
              <a:t>average profitability</a:t>
            </a:r>
            <a:r>
              <a:rPr lang="en-IN" sz="1700" dirty="0">
                <a:latin typeface="Times New Roman" panose="02020603050405020304" pitchFamily="18" charset="0"/>
                <a:cs typeface="Times New Roman" panose="02020603050405020304" pitchFamily="18" charset="0"/>
              </a:rPr>
              <a:t>. </a:t>
            </a:r>
          </a:p>
          <a:p>
            <a:pPr lvl="0"/>
            <a:r>
              <a:rPr lang="en-IN" sz="1700" dirty="0">
                <a:latin typeface="Times New Roman" panose="02020603050405020304" pitchFamily="18" charset="0"/>
                <a:cs typeface="Times New Roman" panose="02020603050405020304" pitchFamily="18" charset="0"/>
              </a:rPr>
              <a:t>Comparing crops helps identify high-performing agricultural categories.</a:t>
            </a:r>
          </a:p>
          <a:p>
            <a:pPr marL="0" indent="0">
              <a:buNone/>
            </a:pPr>
            <a:endParaRPr lang="en-IN" dirty="0"/>
          </a:p>
        </p:txBody>
      </p:sp>
      <p:pic>
        <p:nvPicPr>
          <p:cNvPr id="2" name="Picture 1">
            <a:extLst>
              <a:ext uri="{FF2B5EF4-FFF2-40B4-BE49-F238E27FC236}">
                <a16:creationId xmlns:a16="http://schemas.microsoft.com/office/drawing/2014/main" id="{AB7AD438-273F-C7AA-75EF-3A094C5DE3A6}"/>
              </a:ext>
            </a:extLst>
          </p:cNvPr>
          <p:cNvPicPr>
            <a:picLocks noChangeAspect="1"/>
          </p:cNvPicPr>
          <p:nvPr/>
        </p:nvPicPr>
        <p:blipFill>
          <a:blip r:embed="rId3"/>
          <a:stretch>
            <a:fillRect/>
          </a:stretch>
        </p:blipFill>
        <p:spPr>
          <a:xfrm>
            <a:off x="320982" y="989562"/>
            <a:ext cx="6030551" cy="3322288"/>
          </a:xfrm>
          <a:prstGeom prst="rect">
            <a:avLst/>
          </a:prstGeom>
        </p:spPr>
      </p:pic>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90"/>
            <a:ext cx="9021496" cy="768400"/>
          </a:xfrm>
        </p:spPr>
        <p:txBody>
          <a:bodyPr>
            <a:normAutofit/>
          </a:bodyPr>
          <a:lstStyle/>
          <a:p>
            <a:r>
              <a:rPr lang="en-GB" sz="2800" dirty="0">
                <a:latin typeface="Times New Roman" panose="02020603050405020304" pitchFamily="18" charset="0"/>
                <a:cs typeface="Times New Roman" panose="02020603050405020304" pitchFamily="18" charset="0"/>
              </a:rPr>
              <a:t>RESULTS</a:t>
            </a:r>
            <a:r>
              <a:rPr lang="en-GB" sz="3600" dirty="0">
                <a:latin typeface="Times New Roman" panose="02020603050405020304" pitchFamily="18" charset="0"/>
                <a:cs typeface="Times New Roman" panose="02020603050405020304" pitchFamily="18" charset="0"/>
              </a:rPr>
              <a:t> : </a:t>
            </a:r>
            <a:r>
              <a:rPr lang="en-IN" sz="2800" dirty="0">
                <a:latin typeface="Times New Roman" panose="02020603050405020304" pitchFamily="18" charset="0"/>
                <a:cs typeface="Times New Roman" panose="02020603050405020304" pitchFamily="18" charset="0"/>
              </a:rPr>
              <a:t>Irrigation &amp; Water Efficiency</a:t>
            </a:r>
            <a:endParaRPr lang="en-IN" sz="36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B6E3B1C7-6A8B-23EE-6251-DC1067C6ADE9}"/>
              </a:ext>
            </a:extLst>
          </p:cNvPr>
          <p:cNvSpPr>
            <a:spLocks noGrp="1"/>
          </p:cNvSpPr>
          <p:nvPr>
            <p:ph type="body" sz="quarter" idx="12"/>
          </p:nvPr>
        </p:nvSpPr>
        <p:spPr>
          <a:xfrm>
            <a:off x="687069" y="4547960"/>
            <a:ext cx="7840390" cy="1939450"/>
          </a:xfrm>
        </p:spPr>
        <p:txBody>
          <a:bodyPr>
            <a:normAutofit fontScale="70000" lnSpcReduction="20000"/>
          </a:bodyPr>
          <a:lstStyle/>
          <a:p>
            <a:pPr marL="0" indent="0">
              <a:buNone/>
            </a:pPr>
            <a:r>
              <a:rPr lang="en-IN" sz="2600" b="1" dirty="0">
                <a:latin typeface="Times New Roman" panose="02020603050405020304" pitchFamily="18" charset="0"/>
                <a:cs typeface="Times New Roman" panose="02020603050405020304" pitchFamily="18" charset="0"/>
              </a:rPr>
              <a:t>Key Findings</a:t>
            </a:r>
          </a:p>
          <a:p>
            <a:pPr lvl="0"/>
            <a:r>
              <a:rPr lang="en-IN" sz="2600" dirty="0">
                <a:latin typeface="Times New Roman" panose="02020603050405020304" pitchFamily="18" charset="0"/>
                <a:cs typeface="Times New Roman" panose="02020603050405020304" pitchFamily="18" charset="0"/>
              </a:rPr>
              <a:t>Irrigation methods showed differences in agricultural performance. </a:t>
            </a:r>
          </a:p>
          <a:p>
            <a:pPr lvl="0"/>
            <a:r>
              <a:rPr lang="en-IN" sz="2600" b="1" dirty="0">
                <a:latin typeface="Times New Roman" panose="02020603050405020304" pitchFamily="18" charset="0"/>
                <a:cs typeface="Times New Roman" panose="02020603050405020304" pitchFamily="18" charset="0"/>
              </a:rPr>
              <a:t>Drip irrigation showed the highest average yield</a:t>
            </a:r>
            <a:r>
              <a:rPr lang="en-IN" sz="2600" dirty="0">
                <a:latin typeface="Times New Roman" panose="02020603050405020304" pitchFamily="18" charset="0"/>
                <a:cs typeface="Times New Roman" panose="02020603050405020304" pitchFamily="18" charset="0"/>
              </a:rPr>
              <a:t> among the </a:t>
            </a:r>
            <a:r>
              <a:rPr lang="en-IN" sz="2600" dirty="0" err="1">
                <a:latin typeface="Times New Roman" panose="02020603050405020304" pitchFamily="18" charset="0"/>
                <a:cs typeface="Times New Roman" panose="02020603050405020304" pitchFamily="18" charset="0"/>
              </a:rPr>
              <a:t>analyzed</a:t>
            </a:r>
            <a:r>
              <a:rPr lang="en-IN" sz="2600" dirty="0">
                <a:latin typeface="Times New Roman" panose="02020603050405020304" pitchFamily="18" charset="0"/>
                <a:cs typeface="Times New Roman" panose="02020603050405020304" pitchFamily="18" charset="0"/>
              </a:rPr>
              <a:t> irrigation methods. </a:t>
            </a:r>
          </a:p>
          <a:p>
            <a:pPr lvl="0"/>
            <a:r>
              <a:rPr lang="en-IN" sz="2600" b="1" dirty="0">
                <a:latin typeface="Times New Roman" panose="02020603050405020304" pitchFamily="18" charset="0"/>
                <a:cs typeface="Times New Roman" panose="02020603050405020304" pitchFamily="18" charset="0"/>
              </a:rPr>
              <a:t>Rainfed farming showed high water-use efficiency</a:t>
            </a:r>
            <a:r>
              <a:rPr lang="en-IN" sz="2600" dirty="0">
                <a:latin typeface="Times New Roman" panose="02020603050405020304" pitchFamily="18" charset="0"/>
                <a:cs typeface="Times New Roman" panose="02020603050405020304" pitchFamily="18" charset="0"/>
              </a:rPr>
              <a:t>. </a:t>
            </a:r>
          </a:p>
          <a:p>
            <a:pPr lvl="0"/>
            <a:r>
              <a:rPr lang="en-IN" sz="2600" dirty="0">
                <a:latin typeface="Times New Roman" panose="02020603050405020304" pitchFamily="18" charset="0"/>
                <a:cs typeface="Times New Roman" panose="02020603050405020304" pitchFamily="18" charset="0"/>
              </a:rPr>
              <a:t>Efficient resource utilization is important for sustainable agricultural planning.</a:t>
            </a:r>
          </a:p>
          <a:p>
            <a:pPr marL="0" indent="0">
              <a:buNone/>
            </a:pPr>
            <a:endParaRPr lang="en-IN" dirty="0"/>
          </a:p>
        </p:txBody>
      </p:sp>
      <p:pic>
        <p:nvPicPr>
          <p:cNvPr id="2" name="Picture 1">
            <a:extLst>
              <a:ext uri="{FF2B5EF4-FFF2-40B4-BE49-F238E27FC236}">
                <a16:creationId xmlns:a16="http://schemas.microsoft.com/office/drawing/2014/main" id="{5A28AD35-7031-37DF-A36F-501BBDDE5964}"/>
              </a:ext>
            </a:extLst>
          </p:cNvPr>
          <p:cNvPicPr>
            <a:picLocks noChangeAspect="1"/>
          </p:cNvPicPr>
          <p:nvPr/>
        </p:nvPicPr>
        <p:blipFill>
          <a:blip r:embed="rId3"/>
          <a:stretch>
            <a:fillRect/>
          </a:stretch>
        </p:blipFill>
        <p:spPr>
          <a:xfrm>
            <a:off x="398427" y="1032866"/>
            <a:ext cx="7767005" cy="3378713"/>
          </a:xfrm>
          <a:prstGeom prst="rect">
            <a:avLst/>
          </a:prstGeom>
        </p:spPr>
      </p:pic>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675957" y="370589"/>
            <a:ext cx="9518801" cy="830997"/>
          </a:xfrm>
        </p:spPr>
        <p:txBody>
          <a:bodyPr>
            <a:normAutofit/>
          </a:bodyPr>
          <a:lstStyle/>
          <a:p>
            <a:r>
              <a:rPr lang="en-GB" sz="3200" dirty="0">
                <a:latin typeface="Times New Roman" panose="02020603050405020304" pitchFamily="18" charset="0"/>
                <a:cs typeface="Times New Roman" panose="02020603050405020304" pitchFamily="18" charset="0"/>
              </a:rPr>
              <a:t>RESULTS : </a:t>
            </a:r>
            <a:r>
              <a:rPr lang="en-IN" sz="3200" dirty="0">
                <a:latin typeface="Times New Roman" panose="02020603050405020304" pitchFamily="18" charset="0"/>
                <a:cs typeface="Times New Roman" panose="02020603050405020304" pitchFamily="18" charset="0"/>
              </a:rPr>
              <a:t>Correlation Analysis</a:t>
            </a:r>
            <a:r>
              <a:rPr lang="en-GB" sz="3200" dirty="0">
                <a:latin typeface="Times New Roman" panose="02020603050405020304" pitchFamily="18" charset="0"/>
                <a:cs typeface="Times New Roman" panose="02020603050405020304" pitchFamily="18" charset="0"/>
              </a:rPr>
              <a:t> </a:t>
            </a:r>
            <a:endParaRPr lang="en-IN" sz="32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2B7B89A1-9444-8322-CADC-42D31D698FA8}"/>
              </a:ext>
            </a:extLst>
          </p:cNvPr>
          <p:cNvSpPr>
            <a:spLocks noGrp="1"/>
          </p:cNvSpPr>
          <p:nvPr>
            <p:ph type="body" sz="quarter" idx="12"/>
          </p:nvPr>
        </p:nvSpPr>
        <p:spPr>
          <a:xfrm>
            <a:off x="823206" y="4693235"/>
            <a:ext cx="8032036" cy="1867986"/>
          </a:xfrm>
        </p:spPr>
        <p:txBody>
          <a:bodyPr>
            <a:normAutofit fontScale="85000" lnSpcReduction="20000"/>
          </a:bodyPr>
          <a:lstStyle/>
          <a:p>
            <a:pPr marL="0" indent="0">
              <a:buNone/>
            </a:pPr>
            <a:r>
              <a:rPr lang="en-IN" b="1" dirty="0">
                <a:latin typeface="Times New Roman" panose="02020603050405020304" pitchFamily="18" charset="0"/>
                <a:cs typeface="Times New Roman" panose="02020603050405020304" pitchFamily="18" charset="0"/>
              </a:rPr>
              <a:t>Key Findings</a:t>
            </a:r>
          </a:p>
          <a:p>
            <a:pPr lvl="0"/>
            <a:r>
              <a:rPr lang="en-IN" b="1" dirty="0">
                <a:latin typeface="Times New Roman" panose="02020603050405020304" pitchFamily="18" charset="0"/>
                <a:cs typeface="Times New Roman" panose="02020603050405020304" pitchFamily="18" charset="0"/>
              </a:rPr>
              <a:t>Production and yield showed a strong positive relationship.</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Profit and revenue showed positive relationships with agricultural performance. </a:t>
            </a:r>
          </a:p>
          <a:p>
            <a:pPr lvl="0"/>
            <a:r>
              <a:rPr lang="en-IN" dirty="0">
                <a:latin typeface="Times New Roman" panose="02020603050405020304" pitchFamily="18" charset="0"/>
                <a:cs typeface="Times New Roman" panose="02020603050405020304" pitchFamily="18" charset="0"/>
              </a:rPr>
              <a:t>Yield had a weak relationship with rainfall in the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dataset. </a:t>
            </a:r>
          </a:p>
          <a:p>
            <a:pPr lvl="0"/>
            <a:r>
              <a:rPr lang="en-IN" dirty="0">
                <a:latin typeface="Times New Roman" panose="02020603050405020304" pitchFamily="18" charset="0"/>
                <a:cs typeface="Times New Roman" panose="02020603050405020304" pitchFamily="18" charset="0"/>
              </a:rPr>
              <a:t>Correlation analysis helped identify important relationships among agricultural variables.</a:t>
            </a:r>
          </a:p>
          <a:p>
            <a:pPr marL="0" indent="0">
              <a:buNone/>
            </a:pPr>
            <a:endParaRPr lang="en-IN" dirty="0"/>
          </a:p>
        </p:txBody>
      </p:sp>
      <p:pic>
        <p:nvPicPr>
          <p:cNvPr id="2" name="Picture 1">
            <a:extLst>
              <a:ext uri="{FF2B5EF4-FFF2-40B4-BE49-F238E27FC236}">
                <a16:creationId xmlns:a16="http://schemas.microsoft.com/office/drawing/2014/main" id="{417E86FE-3163-D5CB-C2F1-BB99DE952C31}"/>
              </a:ext>
            </a:extLst>
          </p:cNvPr>
          <p:cNvPicPr>
            <a:picLocks noChangeAspect="1"/>
          </p:cNvPicPr>
          <p:nvPr/>
        </p:nvPicPr>
        <p:blipFill>
          <a:blip r:embed="rId3"/>
          <a:stretch>
            <a:fillRect/>
          </a:stretch>
        </p:blipFill>
        <p:spPr>
          <a:xfrm>
            <a:off x="595748" y="1049862"/>
            <a:ext cx="7625831" cy="3417864"/>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675957" y="370590"/>
            <a:ext cx="10112359" cy="599958"/>
          </a:xfrm>
        </p:spPr>
        <p:txBody>
          <a:bodyPr>
            <a:normAutofit/>
          </a:bodyPr>
          <a:lstStyle/>
          <a:p>
            <a:r>
              <a:rPr lang="en-GB" sz="2800" dirty="0">
                <a:latin typeface="Times New Roman" panose="02020603050405020304" pitchFamily="18" charset="0"/>
                <a:cs typeface="Times New Roman" panose="02020603050405020304" pitchFamily="18" charset="0"/>
              </a:rPr>
              <a:t>RESULTS : Production Vs Profit</a:t>
            </a:r>
            <a:endParaRPr lang="en-IN" sz="2800" dirty="0">
              <a:latin typeface="Times New Roman" panose="02020603050405020304" pitchFamily="18" charset="0"/>
              <a:cs typeface="Times New Roman" panose="02020603050405020304" pitchFamily="18" charset="0"/>
            </a:endParaRP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F85C769B-425A-FE3B-E47A-3B747985DC52}"/>
              </a:ext>
            </a:extLst>
          </p:cNvPr>
          <p:cNvSpPr>
            <a:spLocks noGrp="1"/>
          </p:cNvSpPr>
          <p:nvPr>
            <p:ph type="body" sz="quarter" idx="12"/>
          </p:nvPr>
        </p:nvSpPr>
        <p:spPr>
          <a:xfrm>
            <a:off x="791121" y="4675762"/>
            <a:ext cx="7935784" cy="1796158"/>
          </a:xfrm>
        </p:spPr>
        <p:txBody>
          <a:bodyPr>
            <a:normAutofit fontScale="77500" lnSpcReduction="20000"/>
          </a:bodyPr>
          <a:lstStyle/>
          <a:p>
            <a:pPr marL="0" indent="0">
              <a:buNone/>
            </a:pPr>
            <a:r>
              <a:rPr lang="en-IN" b="1" dirty="0">
                <a:latin typeface="Times New Roman" panose="02020603050405020304" pitchFamily="18" charset="0"/>
                <a:cs typeface="Times New Roman" panose="02020603050405020304" pitchFamily="18" charset="0"/>
              </a:rPr>
              <a:t>Key Findings</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Higher production does not necessarily guarantee higher profit. </a:t>
            </a:r>
          </a:p>
          <a:p>
            <a:pPr lvl="0"/>
            <a:r>
              <a:rPr lang="en-IN" dirty="0">
                <a:latin typeface="Times New Roman" panose="02020603050405020304" pitchFamily="18" charset="0"/>
                <a:cs typeface="Times New Roman" panose="02020603050405020304" pitchFamily="18" charset="0"/>
              </a:rPr>
              <a:t>Profitability is influenced by </a:t>
            </a:r>
            <a:r>
              <a:rPr lang="en-IN" b="1" dirty="0">
                <a:latin typeface="Times New Roman" panose="02020603050405020304" pitchFamily="18" charset="0"/>
                <a:cs typeface="Times New Roman" panose="02020603050405020304" pitchFamily="18" charset="0"/>
              </a:rPr>
              <a:t>production cost and market price</a:t>
            </a:r>
            <a:r>
              <a:rPr lang="en-IN" dirty="0">
                <a:latin typeface="Times New Roman" panose="02020603050405020304" pitchFamily="18" charset="0"/>
                <a:cs typeface="Times New Roman" panose="02020603050405020304" pitchFamily="18" charset="0"/>
              </a:rPr>
              <a:t>. </a:t>
            </a:r>
          </a:p>
          <a:p>
            <a:pPr lvl="0"/>
            <a:r>
              <a:rPr lang="en-IN" dirty="0">
                <a:latin typeface="Times New Roman" panose="02020603050405020304" pitchFamily="18" charset="0"/>
                <a:cs typeface="Times New Roman" panose="02020603050405020304" pitchFamily="18" charset="0"/>
              </a:rPr>
              <a:t>Some observations show high production but relatively lower or negative profit. </a:t>
            </a:r>
          </a:p>
          <a:p>
            <a:pPr lvl="0"/>
            <a:r>
              <a:rPr lang="en-IN" dirty="0">
                <a:latin typeface="Times New Roman" panose="02020603050405020304" pitchFamily="18" charset="0"/>
                <a:cs typeface="Times New Roman" panose="02020603050405020304" pitchFamily="18" charset="0"/>
              </a:rPr>
              <a:t>This highlights the importance of considering </a:t>
            </a:r>
            <a:r>
              <a:rPr lang="en-IN" b="1" dirty="0">
                <a:latin typeface="Times New Roman" panose="02020603050405020304" pitchFamily="18" charset="0"/>
                <a:cs typeface="Times New Roman" panose="02020603050405020304" pitchFamily="18" charset="0"/>
              </a:rPr>
              <a:t>both production and economic factors</a:t>
            </a:r>
            <a:r>
              <a:rPr lang="en-IN" dirty="0">
                <a:latin typeface="Times New Roman" panose="02020603050405020304" pitchFamily="18" charset="0"/>
                <a:cs typeface="Times New Roman" panose="02020603050405020304" pitchFamily="18" charset="0"/>
              </a:rPr>
              <a:t> when evaluating agricultural performance.</a:t>
            </a:r>
          </a:p>
          <a:p>
            <a:pPr marL="0" indent="0">
              <a:buNone/>
            </a:pPr>
            <a:endParaRPr lang="en-IN" dirty="0"/>
          </a:p>
        </p:txBody>
      </p:sp>
      <p:pic>
        <p:nvPicPr>
          <p:cNvPr id="2" name="Picture 1">
            <a:extLst>
              <a:ext uri="{FF2B5EF4-FFF2-40B4-BE49-F238E27FC236}">
                <a16:creationId xmlns:a16="http://schemas.microsoft.com/office/drawing/2014/main" id="{3C3FBD01-6E9F-D7AD-BAAB-A04C653AFBDD}"/>
              </a:ext>
            </a:extLst>
          </p:cNvPr>
          <p:cNvPicPr>
            <a:picLocks noChangeAspect="1"/>
          </p:cNvPicPr>
          <p:nvPr/>
        </p:nvPicPr>
        <p:blipFill>
          <a:blip r:embed="rId3"/>
          <a:stretch>
            <a:fillRect/>
          </a:stretch>
        </p:blipFill>
        <p:spPr>
          <a:xfrm>
            <a:off x="320982" y="970548"/>
            <a:ext cx="7403432" cy="3593431"/>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0">
                                            <p:txEl>
                                              <p:pRg st="0" end="0"/>
                                            </p:txEl>
                                          </p:spTgt>
                                        </p:tgtEl>
                                        <p:attrNameLst>
                                          <p:attrName>style.visibility</p:attrName>
                                        </p:attrNameLst>
                                      </p:cBhvr>
                                      <p:to>
                                        <p:strVal val="visible"/>
                                      </p:to>
                                    </p:set>
                                    <p:animEffect transition="in" filter="fade">
                                      <p:cBhvr>
                                        <p:cTn id="28" dur="1000"/>
                                        <p:tgtEl>
                                          <p:spTgt spid="10">
                                            <p:txEl>
                                              <p:pRg st="0" end="0"/>
                                            </p:txEl>
                                          </p:spTgt>
                                        </p:tgtEl>
                                      </p:cBhvr>
                                    </p:animEffect>
                                    <p:anim calcmode="lin" valueType="num">
                                      <p:cBhvr>
                                        <p:cTn id="2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0">
                                            <p:txEl>
                                              <p:pRg st="1" end="1"/>
                                            </p:txEl>
                                          </p:spTgt>
                                        </p:tgtEl>
                                        <p:attrNameLst>
                                          <p:attrName>style.visibility</p:attrName>
                                        </p:attrNameLst>
                                      </p:cBhvr>
                                      <p:to>
                                        <p:strVal val="visible"/>
                                      </p:to>
                                    </p:set>
                                    <p:animEffect transition="in" filter="fade">
                                      <p:cBhvr>
                                        <p:cTn id="35" dur="1000"/>
                                        <p:tgtEl>
                                          <p:spTgt spid="10">
                                            <p:txEl>
                                              <p:pRg st="1" end="1"/>
                                            </p:txEl>
                                          </p:spTgt>
                                        </p:tgtEl>
                                      </p:cBhvr>
                                    </p:animEffect>
                                    <p:anim calcmode="lin" valueType="num">
                                      <p:cBhvr>
                                        <p:cTn id="36" dur="1000" fill="hold"/>
                                        <p:tgtEl>
                                          <p:spTgt spid="10">
                                            <p:txEl>
                                              <p:pRg st="1" end="1"/>
                                            </p:txEl>
                                          </p:spTgt>
                                        </p:tgtEl>
                                        <p:attrNameLst>
                                          <p:attrName>ppt_x</p:attrName>
                                        </p:attrNameLst>
                                      </p:cBhvr>
                                      <p:tavLst>
                                        <p:tav tm="0">
                                          <p:val>
                                            <p:strVal val="#ppt_x"/>
                                          </p:val>
                                        </p:tav>
                                        <p:tav tm="100000">
                                          <p:val>
                                            <p:strVal val="#ppt_x"/>
                                          </p:val>
                                        </p:tav>
                                      </p:tavLst>
                                    </p:anim>
                                    <p:anim calcmode="lin" valueType="num">
                                      <p:cBhvr>
                                        <p:cTn id="37" dur="1000" fill="hold"/>
                                        <p:tgtEl>
                                          <p:spTgt spid="10">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0">
                                            <p:txEl>
                                              <p:pRg st="2" end="2"/>
                                            </p:txEl>
                                          </p:spTgt>
                                        </p:tgtEl>
                                        <p:attrNameLst>
                                          <p:attrName>style.visibility</p:attrName>
                                        </p:attrNameLst>
                                      </p:cBhvr>
                                      <p:to>
                                        <p:strVal val="visible"/>
                                      </p:to>
                                    </p:set>
                                    <p:animEffect transition="in" filter="fade">
                                      <p:cBhvr>
                                        <p:cTn id="42" dur="1000"/>
                                        <p:tgtEl>
                                          <p:spTgt spid="10">
                                            <p:txEl>
                                              <p:pRg st="2" end="2"/>
                                            </p:txEl>
                                          </p:spTgt>
                                        </p:tgtEl>
                                      </p:cBhvr>
                                    </p:animEffect>
                                    <p:anim calcmode="lin" valueType="num">
                                      <p:cBhvr>
                                        <p:cTn id="43" dur="1000" fill="hold"/>
                                        <p:tgtEl>
                                          <p:spTgt spid="10">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10">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0">
                                            <p:txEl>
                                              <p:pRg st="3" end="3"/>
                                            </p:txEl>
                                          </p:spTgt>
                                        </p:tgtEl>
                                        <p:attrNameLst>
                                          <p:attrName>style.visibility</p:attrName>
                                        </p:attrNameLst>
                                      </p:cBhvr>
                                      <p:to>
                                        <p:strVal val="visible"/>
                                      </p:to>
                                    </p:set>
                                    <p:animEffect transition="in" filter="fade">
                                      <p:cBhvr>
                                        <p:cTn id="49" dur="1000"/>
                                        <p:tgtEl>
                                          <p:spTgt spid="10">
                                            <p:txEl>
                                              <p:pRg st="3" end="3"/>
                                            </p:txEl>
                                          </p:spTgt>
                                        </p:tgtEl>
                                      </p:cBhvr>
                                    </p:animEffect>
                                    <p:anim calcmode="lin" valueType="num">
                                      <p:cBhvr>
                                        <p:cTn id="50" dur="1000" fill="hold"/>
                                        <p:tgtEl>
                                          <p:spTgt spid="10">
                                            <p:txEl>
                                              <p:pRg st="3" end="3"/>
                                            </p:txEl>
                                          </p:spTgt>
                                        </p:tgtEl>
                                        <p:attrNameLst>
                                          <p:attrName>ppt_x</p:attrName>
                                        </p:attrNameLst>
                                      </p:cBhvr>
                                      <p:tavLst>
                                        <p:tav tm="0">
                                          <p:val>
                                            <p:strVal val="#ppt_x"/>
                                          </p:val>
                                        </p:tav>
                                        <p:tav tm="100000">
                                          <p:val>
                                            <p:strVal val="#ppt_x"/>
                                          </p:val>
                                        </p:tav>
                                      </p:tavLst>
                                    </p:anim>
                                    <p:anim calcmode="lin" valueType="num">
                                      <p:cBhvr>
                                        <p:cTn id="51" dur="1000" fill="hold"/>
                                        <p:tgtEl>
                                          <p:spTgt spid="10">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fade">
                                      <p:cBhvr>
                                        <p:cTn id="56" dur="1000"/>
                                        <p:tgtEl>
                                          <p:spTgt spid="10">
                                            <p:txEl>
                                              <p:pRg st="4" end="4"/>
                                            </p:txEl>
                                          </p:spTgt>
                                        </p:tgtEl>
                                      </p:cBhvr>
                                    </p:animEffect>
                                    <p:anim calcmode="lin" valueType="num">
                                      <p:cBhvr>
                                        <p:cTn id="57" dur="1000" fill="hold"/>
                                        <p:tgtEl>
                                          <p:spTgt spid="10">
                                            <p:txEl>
                                              <p:pRg st="4" end="4"/>
                                            </p:txEl>
                                          </p:spTgt>
                                        </p:tgtEl>
                                        <p:attrNameLst>
                                          <p:attrName>ppt_x</p:attrName>
                                        </p:attrNameLst>
                                      </p:cBhvr>
                                      <p:tavLst>
                                        <p:tav tm="0">
                                          <p:val>
                                            <p:strVal val="#ppt_x"/>
                                          </p:val>
                                        </p:tav>
                                        <p:tav tm="100000">
                                          <p:val>
                                            <p:strVal val="#ppt_x"/>
                                          </p:val>
                                        </p:tav>
                                      </p:tavLst>
                                    </p:anim>
                                    <p:anim calcmode="lin" valueType="num">
                                      <p:cBhvr>
                                        <p:cTn id="58" dur="1000" fill="hold"/>
                                        <p:tgtEl>
                                          <p:spTgt spid="10">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10"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5" y="474328"/>
            <a:ext cx="4735798" cy="830997"/>
          </a:xfrm>
        </p:spPr>
        <p:txBody>
          <a:bodyPr>
            <a:normAutofit/>
          </a:bodyPr>
          <a:lstStyle/>
          <a:p>
            <a:r>
              <a:rPr lang="en-IN" sz="3600" dirty="0">
                <a:latin typeface="Times New Roman" panose="02020603050405020304" pitchFamily="18" charset="0"/>
                <a:cs typeface="Times New Roman" panose="02020603050405020304" pitchFamily="18" charset="0"/>
              </a:rPr>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675956" y="1275370"/>
            <a:ext cx="9013475" cy="4989071"/>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6920452" y="609292"/>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3232E840-DEF4-8D87-31B6-BB41BCE7CC20}"/>
              </a:ext>
            </a:extLst>
          </p:cNvPr>
          <p:cNvSpPr txBox="1"/>
          <p:nvPr/>
        </p:nvSpPr>
        <p:spPr>
          <a:xfrm>
            <a:off x="675955" y="1409065"/>
            <a:ext cx="9013475" cy="3782061"/>
          </a:xfrm>
          <a:prstGeom prst="rect">
            <a:avLst/>
          </a:prstGeom>
          <a:noFill/>
        </p:spPr>
        <p:txBody>
          <a:bodyPr wrap="square" rtlCol="0">
            <a:spAutoFit/>
          </a:bodyPr>
          <a:lstStyle/>
          <a:p>
            <a:pPr>
              <a:lnSpc>
                <a:spcPct val="150000"/>
              </a:lnSpc>
            </a:pPr>
            <a:r>
              <a:rPr lang="en-IN" dirty="0">
                <a:latin typeface="Times New Roman" panose="02020603050405020304" pitchFamily="18" charset="0"/>
                <a:cs typeface="Times New Roman" panose="02020603050405020304" pitchFamily="18" charset="0"/>
              </a:rPr>
              <a:t>The project can be further enhanced by:</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Integrating </a:t>
            </a:r>
            <a:r>
              <a:rPr lang="en-IN" b="1" dirty="0">
                <a:latin typeface="Times New Roman" panose="02020603050405020304" pitchFamily="18" charset="0"/>
                <a:cs typeface="Times New Roman" panose="02020603050405020304" pitchFamily="18" charset="0"/>
              </a:rPr>
              <a:t>real-time weather data</a:t>
            </a:r>
            <a:r>
              <a:rPr lang="en-IN"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Incorporating larger and more recent agricultural datasets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Developing an interactive </a:t>
            </a:r>
            <a:r>
              <a:rPr lang="en-IN" b="1" dirty="0">
                <a:latin typeface="Times New Roman" panose="02020603050405020304" pitchFamily="18" charset="0"/>
                <a:cs typeface="Times New Roman" panose="02020603050405020304" pitchFamily="18" charset="0"/>
              </a:rPr>
              <a:t>Power BI dashboard</a:t>
            </a:r>
            <a:r>
              <a:rPr lang="en-IN" dirty="0">
                <a:latin typeface="Times New Roman" panose="02020603050405020304" pitchFamily="18" charset="0"/>
                <a:cs typeface="Times New Roman" panose="02020603050405020304" pitchFamily="18" charset="0"/>
              </a:rPr>
              <a:t>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Applying </a:t>
            </a:r>
            <a:r>
              <a:rPr lang="en-IN" b="1" dirty="0">
                <a:latin typeface="Times New Roman" panose="02020603050405020304" pitchFamily="18" charset="0"/>
                <a:cs typeface="Times New Roman" panose="02020603050405020304" pitchFamily="18" charset="0"/>
              </a:rPr>
              <a:t>machine learning</a:t>
            </a:r>
            <a:r>
              <a:rPr lang="en-IN" dirty="0">
                <a:latin typeface="Times New Roman" panose="02020603050405020304" pitchFamily="18" charset="0"/>
                <a:cs typeface="Times New Roman" panose="02020603050405020304" pitchFamily="18" charset="0"/>
              </a:rPr>
              <a:t> for yield prediction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Developing crop recommendation systems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Performing long-term seasonal trend analysis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Adding more regional and environmental variables </a:t>
            </a:r>
          </a:p>
          <a:p>
            <a:pPr marL="285750" lvl="0" indent="-28575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Developing a farmer-friendly decision-support system</a:t>
            </a: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613597"/>
            <a:ext cx="4735798" cy="830997"/>
          </a:xfrm>
        </p:spPr>
        <p:txBody>
          <a:bodyPr>
            <a:normAutofit/>
          </a:bodyPr>
          <a:lstStyle/>
          <a:p>
            <a:r>
              <a:rPr lang="en-IN" sz="3200" dirty="0">
                <a:latin typeface="Times New Roman" panose="02020603050405020304" pitchFamily="18" charset="0"/>
                <a:cs typeface="Times New Roman" panose="02020603050405020304" pitchFamily="18" charset="0"/>
              </a:rPr>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441158" y="1275370"/>
            <a:ext cx="9432758" cy="5077303"/>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2" name="TextBox 1">
            <a:extLst>
              <a:ext uri="{FF2B5EF4-FFF2-40B4-BE49-F238E27FC236}">
                <a16:creationId xmlns:a16="http://schemas.microsoft.com/office/drawing/2014/main" id="{539F5674-9D0B-63A8-9939-BB340DE55124}"/>
              </a:ext>
            </a:extLst>
          </p:cNvPr>
          <p:cNvSpPr txBox="1"/>
          <p:nvPr/>
        </p:nvSpPr>
        <p:spPr>
          <a:xfrm>
            <a:off x="675957" y="1563841"/>
            <a:ext cx="9887769" cy="3730317"/>
          </a:xfrm>
          <a:prstGeom prst="rect">
            <a:avLst/>
          </a:prstGeom>
          <a:noFill/>
        </p:spPr>
        <p:txBody>
          <a:bodyPr wrap="square" rtlCol="0">
            <a:spAutoFit/>
          </a:bodyPr>
          <a:lstStyle/>
          <a:p>
            <a:pPr>
              <a:lnSpc>
                <a:spcPct val="150000"/>
              </a:lnSpc>
            </a:pPr>
            <a:r>
              <a:rPr lang="en-IN" sz="2000" b="1" dirty="0">
                <a:latin typeface="Times New Roman" panose="02020603050405020304" pitchFamily="18" charset="0"/>
                <a:cs typeface="Times New Roman" panose="02020603050405020304" pitchFamily="18" charset="0"/>
              </a:rPr>
              <a:t>GITHUB REPOSITORY : </a:t>
            </a:r>
          </a:p>
          <a:p>
            <a:pPr>
              <a:lnSpc>
                <a:spcPct val="150000"/>
              </a:lnSpc>
            </a:pPr>
            <a:r>
              <a:rPr lang="en-IN" sz="2000" b="1" dirty="0">
                <a:latin typeface="Times New Roman" panose="02020603050405020304" pitchFamily="18" charset="0"/>
                <a:cs typeface="Times New Roman" panose="02020603050405020304" pitchFamily="18" charset="0"/>
              </a:rPr>
              <a:t>Seasonal Agriculture Performance Analysis</a:t>
            </a:r>
            <a:endParaRPr lang="en-IN" sz="2000" dirty="0">
              <a:latin typeface="Times New Roman" panose="02020603050405020304" pitchFamily="18" charset="0"/>
              <a:cs typeface="Times New Roman" panose="02020603050405020304" pitchFamily="18" charset="0"/>
            </a:endParaRPr>
          </a:p>
          <a:p>
            <a:pPr>
              <a:lnSpc>
                <a:spcPct val="150000"/>
              </a:lnSpc>
            </a:pPr>
            <a:r>
              <a:rPr lang="en-IN" sz="2000" b="1" dirty="0">
                <a:solidFill>
                  <a:srgbClr val="FF0000"/>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val="tx"/>
                    </a:ext>
                  </a:extLst>
                </a:hlinkClick>
              </a:rPr>
              <a:t>Repository Link</a:t>
            </a:r>
            <a:br>
              <a:rPr lang="en-IN" sz="2000" dirty="0">
                <a:latin typeface="Times New Roman" panose="02020603050405020304" pitchFamily="18" charset="0"/>
                <a:cs typeface="Times New Roman" panose="02020603050405020304" pitchFamily="18" charset="0"/>
              </a:rPr>
            </a:br>
            <a:r>
              <a:rPr lang="en-IN" sz="2000" b="1" dirty="0">
                <a:latin typeface="Times New Roman" panose="02020603050405020304" pitchFamily="18" charset="0"/>
                <a:cs typeface="Times New Roman" panose="02020603050405020304" pitchFamily="18" charset="0"/>
              </a:rPr>
              <a:t>Repository contains:</a:t>
            </a:r>
            <a:endParaRPr lang="en-IN" sz="2000" dirty="0">
              <a:latin typeface="Times New Roman" panose="02020603050405020304" pitchFamily="18" charset="0"/>
              <a:cs typeface="Times New Roman" panose="02020603050405020304" pitchFamily="18" charset="0"/>
            </a:endParaRPr>
          </a:p>
          <a:p>
            <a:pPr lvl="0">
              <a:lnSpc>
                <a:spcPct val="150000"/>
              </a:lnSpc>
            </a:pPr>
            <a:r>
              <a:rPr lang="en-IN" sz="2000" dirty="0" err="1">
                <a:latin typeface="Times New Roman" panose="02020603050405020304" pitchFamily="18" charset="0"/>
                <a:cs typeface="Times New Roman" panose="02020603050405020304" pitchFamily="18" charset="0"/>
              </a:rPr>
              <a:t>Colab</a:t>
            </a:r>
            <a:r>
              <a:rPr lang="en-IN" sz="2000" dirty="0">
                <a:latin typeface="Times New Roman" panose="02020603050405020304" pitchFamily="18" charset="0"/>
                <a:cs typeface="Times New Roman" panose="02020603050405020304" pitchFamily="18" charset="0"/>
              </a:rPr>
              <a:t> notebook </a:t>
            </a:r>
          </a:p>
          <a:p>
            <a:pPr lvl="0">
              <a:lnSpc>
                <a:spcPct val="150000"/>
              </a:lnSpc>
            </a:pPr>
            <a:r>
              <a:rPr lang="en-IN" sz="2000" dirty="0">
                <a:latin typeface="Times New Roman" panose="02020603050405020304" pitchFamily="18" charset="0"/>
                <a:cs typeface="Times New Roman" panose="02020603050405020304" pitchFamily="18" charset="0"/>
              </a:rPr>
              <a:t>Dataset</a:t>
            </a:r>
          </a:p>
          <a:p>
            <a:pPr lvl="0">
              <a:lnSpc>
                <a:spcPct val="150000"/>
              </a:lnSpc>
            </a:pPr>
            <a:r>
              <a:rPr lang="en-IN" sz="2000" dirty="0">
                <a:latin typeface="Times New Roman" panose="02020603050405020304" pitchFamily="18" charset="0"/>
                <a:cs typeface="Times New Roman" panose="02020603050405020304" pitchFamily="18" charset="0"/>
              </a:rPr>
              <a:t>PPT </a:t>
            </a:r>
          </a:p>
          <a:p>
            <a:pPr lvl="0">
              <a:lnSpc>
                <a:spcPct val="150000"/>
              </a:lnSpc>
            </a:pPr>
            <a:r>
              <a:rPr lang="en-IN" sz="2000" dirty="0">
                <a:latin typeface="Times New Roman" panose="02020603050405020304" pitchFamily="18" charset="0"/>
                <a:cs typeface="Times New Roman" panose="02020603050405020304" pitchFamily="18" charset="0"/>
              </a:rPr>
              <a:t>README</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810125" y="370589"/>
            <a:ext cx="8217219" cy="884658"/>
          </a:xfrm>
        </p:spPr>
        <p:txBody>
          <a:bodyPr>
            <a:noAutofit/>
          </a:bodyPr>
          <a:lstStyle/>
          <a:p>
            <a:r>
              <a:rPr lang="en-IN" sz="2800" dirty="0">
                <a:latin typeface="Times New Roman" panose="02020603050405020304" pitchFamily="18" charset="0"/>
                <a:cs typeface="Times New Roman" panose="02020603050405020304" pitchFamily="18" charset="0"/>
              </a:rPr>
              <a:t>VOIS Course completion certificate - </a:t>
            </a:r>
            <a:br>
              <a:rPr lang="en-IN" sz="2800" dirty="0">
                <a:latin typeface="Times New Roman" panose="02020603050405020304" pitchFamily="18" charset="0"/>
                <a:cs typeface="Times New Roman" panose="02020603050405020304" pitchFamily="18" charset="0"/>
              </a:rPr>
            </a:br>
            <a:r>
              <a:rPr lang="en-IN" sz="2800" dirty="0">
                <a:latin typeface="Times New Roman" panose="02020603050405020304" pitchFamily="18" charset="0"/>
                <a:cs typeface="Times New Roman" panose="02020603050405020304" pitchFamily="18" charset="0"/>
              </a:rPr>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10764113" cy="5212040"/>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A0DD4C7D-CCBE-CCD2-40CC-D28BDD34048F}"/>
              </a:ext>
            </a:extLst>
          </p:cNvPr>
          <p:cNvPicPr>
            <a:picLocks noChangeAspect="1"/>
          </p:cNvPicPr>
          <p:nvPr/>
        </p:nvPicPr>
        <p:blipFill>
          <a:blip r:embed="rId3"/>
          <a:srcRect b="2595"/>
          <a:stretch>
            <a:fillRect/>
          </a:stretch>
        </p:blipFill>
        <p:spPr>
          <a:xfrm>
            <a:off x="890337" y="1467854"/>
            <a:ext cx="7716252" cy="4908883"/>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52400" y="773073"/>
            <a:ext cx="11340000" cy="700114"/>
          </a:xfrm>
          <a:prstGeom prst="rect">
            <a:avLst/>
          </a:prstGeom>
        </p:spPr>
        <p:txBody>
          <a:bodyPr anchor="ctr">
            <a:normAutofit fontScale="90000"/>
          </a:bodyPr>
          <a:lstStyle/>
          <a:p>
            <a:pPr algn="ctr"/>
            <a:r>
              <a:rPr lang="en-US" sz="4800" b="1" dirty="0">
                <a:solidFill>
                  <a:schemeClr val="tx1"/>
                </a:solidFill>
                <a:latin typeface="Times New Roman" panose="02020603050405020304" pitchFamily="18" charset="0"/>
                <a:cs typeface="Times New Roman" panose="02020603050405020304" pitchFamily="18" charset="0"/>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1884947" y="2050169"/>
            <a:ext cx="7483641" cy="3123409"/>
          </a:xfrm>
        </p:spPr>
        <p:txBody>
          <a:bodyPr>
            <a:normAutofit/>
          </a:bodyPr>
          <a:lstStyle/>
          <a:p>
            <a:pPr>
              <a:lnSpc>
                <a:spcPct val="150000"/>
              </a:lnSpc>
            </a:pPr>
            <a:r>
              <a:rPr lang="en-IN" sz="2400" dirty="0">
                <a:solidFill>
                  <a:schemeClr val="tx1"/>
                </a:solidFill>
                <a:latin typeface="Times New Roman" panose="02020603050405020304" pitchFamily="18" charset="0"/>
                <a:cs typeface="Times New Roman" panose="02020603050405020304" pitchFamily="18" charset="0"/>
              </a:rPr>
              <a:t>Seasonal Agriculture Performance Analysis</a:t>
            </a:r>
          </a:p>
          <a:p>
            <a:pPr>
              <a:lnSpc>
                <a:spcPct val="150000"/>
              </a:lnSpc>
            </a:pPr>
            <a:r>
              <a:rPr lang="en-IN" sz="2400" dirty="0">
                <a:solidFill>
                  <a:schemeClr val="tx1"/>
                </a:solidFill>
                <a:latin typeface="Times New Roman" panose="02020603050405020304" pitchFamily="18" charset="0"/>
                <a:cs typeface="Times New Roman" panose="02020603050405020304" pitchFamily="18" charset="0"/>
              </a:rPr>
              <a:t>Presented by:</a:t>
            </a:r>
            <a:br>
              <a:rPr lang="en-IN" sz="2400" dirty="0">
                <a:solidFill>
                  <a:schemeClr val="tx1"/>
                </a:solidFill>
                <a:latin typeface="Times New Roman" panose="02020603050405020304" pitchFamily="18" charset="0"/>
                <a:cs typeface="Times New Roman" panose="02020603050405020304" pitchFamily="18" charset="0"/>
              </a:rPr>
            </a:br>
            <a:r>
              <a:rPr lang="en-IN" sz="2400" dirty="0" err="1">
                <a:solidFill>
                  <a:schemeClr val="tx1"/>
                </a:solidFill>
                <a:latin typeface="Times New Roman" panose="02020603050405020304" pitchFamily="18" charset="0"/>
                <a:cs typeface="Times New Roman" panose="02020603050405020304" pitchFamily="18" charset="0"/>
              </a:rPr>
              <a:t>Skandashree</a:t>
            </a:r>
            <a:r>
              <a:rPr lang="en-IN" sz="2400" dirty="0">
                <a:solidFill>
                  <a:schemeClr val="tx1"/>
                </a:solidFill>
                <a:latin typeface="Times New Roman" panose="02020603050405020304" pitchFamily="18" charset="0"/>
                <a:cs typeface="Times New Roman" panose="02020603050405020304" pitchFamily="18" charset="0"/>
              </a:rPr>
              <a:t> R</a:t>
            </a:r>
          </a:p>
          <a:p>
            <a:pPr>
              <a:lnSpc>
                <a:spcPct val="150000"/>
              </a:lnSpc>
            </a:pPr>
            <a:r>
              <a:rPr lang="en-IN" sz="2400" dirty="0">
                <a:solidFill>
                  <a:schemeClr val="tx1"/>
                </a:solidFill>
                <a:latin typeface="Times New Roman" panose="02020603050405020304" pitchFamily="18" charset="0"/>
                <a:cs typeface="Times New Roman" panose="02020603050405020304" pitchFamily="18" charset="0"/>
              </a:rPr>
              <a:t>Major Data Analytics Project</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660</TotalTime>
  <Words>687</Words>
  <Application>Microsoft Office PowerPoint</Application>
  <PresentationFormat>Widescreen</PresentationFormat>
  <Paragraphs>89</Paragraphs>
  <Slides>14</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Times New Roman</vt:lpstr>
      <vt:lpstr>Trebuchet MS</vt:lpstr>
      <vt:lpstr>Wingdings</vt:lpstr>
      <vt:lpstr>Wingdings 3</vt:lpstr>
      <vt:lpstr>Facet</vt:lpstr>
      <vt:lpstr>Project Title – Seasonal Agriculture Performance Analysis </vt:lpstr>
      <vt:lpstr>PROBLEM  STATEMENT</vt:lpstr>
      <vt:lpstr>Project Description   </vt:lpstr>
      <vt:lpstr>WHO ARE THE END USERS?</vt:lpstr>
      <vt:lpstr>Technology Used</vt:lpstr>
      <vt:lpstr>RESULTS : Seasonal Performance</vt:lpstr>
      <vt:lpstr>RESULTS : Crop Performance </vt:lpstr>
      <vt:lpstr>RESULTS : Irrigation &amp; Water Efficiency</vt:lpstr>
      <vt:lpstr>RESULTS : Correlation Analysis </vt:lpstr>
      <vt:lpstr>RESULTS : Production Vs Profit</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Skanda shree</cp:lastModifiedBy>
  <cp:revision>100</cp:revision>
  <dcterms:created xsi:type="dcterms:W3CDTF">2021-07-11T13:13:15Z</dcterms:created>
  <dcterms:modified xsi:type="dcterms:W3CDTF">2026-09-05T06:16:00Z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